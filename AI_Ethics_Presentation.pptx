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0"/>
            <a:ext cx="1097280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E76F51">
              <a:alpha val="30000"/>
            </a:srgbClr>
          </a:solidFill>
          <a:ln w="12700">
            <a:solidFill>
              <a:srgbClr val="E76F51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AI Ethics &amp; Bias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4A261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A Critical Literature Review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4114800" cy="3657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74320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BBA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Fairness, Accountability &amp; Responsible AI across Healthcare, Criminal Justice, Hiring &amp; Biometrics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Aditya  ·  Bhagya  ·  Prasad  ·  Rama Devi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B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MSc Data Science  |  Machine Learning CMP-L015-0  |  University of Roehampton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PRESENTATION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4653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Four interconnected domains of AI bias &amp; fairness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011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011680" cy="5029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25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78408" y="1325880"/>
            <a:ext cx="1335024" cy="5029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Aditya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9202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AI Fairness in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260604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Bias taxonomies, radiology context, the FAIR statement &amp; stakeholder collaboration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325880"/>
            <a:ext cx="2011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325880"/>
            <a:ext cx="2011680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325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127248" y="1325880"/>
            <a:ext cx="1335024" cy="5029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Bhagya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42032" y="19202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Recidivism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42032" y="260604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COMPAS bias, multi-stage fairness techniques &amp; accuracy–equity trade-offs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1325880"/>
            <a:ext cx="2011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325880"/>
            <a:ext cx="2011680" cy="5029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325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76088" y="1325880"/>
            <a:ext cx="1335024" cy="5029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Prasad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90872" y="19202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Algorithmic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Hiring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90872" y="260604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Bias Conducive Factors, pipeline discrimination &amp; legal/regulatory landscape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1325880"/>
            <a:ext cx="2011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1325880"/>
            <a:ext cx="2011680" cy="502920"/>
          </a:xfrm>
          <a:prstGeom prst="rect">
            <a:avLst/>
          </a:prstGeom>
          <a:solidFill>
            <a:srgbClr val="7B8B6F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1325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424928" y="1325880"/>
            <a:ext cx="1335024" cy="5029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Rama Devi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39712" y="19202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Racial Bias in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Facial Recognition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39712" y="260604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Dataset imbalance, algorithmic enhancements &amp; equity in biometric systems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DE8D8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Connecting thread: What does fairness mean in high-stakes AI, and how do we achieve it?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AI FAIRNESS IN HEALTHCARE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Aditya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47472"/>
          </a:xfrm>
          <a:prstGeom prst="rect">
            <a:avLst/>
          </a:prstGeom>
          <a:solidFill>
            <a:srgbClr val="F0E8D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498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Ueda et al. (2024) — Fairness of artificial intelligence in healthcare: review and recommendations. Japanese Journal of Radiology, 42:3–15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AI bias in healthcare stems from data bias (minority, missing-data, informativeness, training-serving skew) and algorithmic bias (label &amp; cohort bias)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Clinician-AI interaction biases: automation bias, feedback loops, rejection/alert fatigue, allocation discrepancy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Patient-AI biases: privilege bias, informed mistrust, agency bias disproportionately affect marginalized groups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4. Radiology context: Japan leads globally in AI radiology but faces acute radiologist shortage — bias risks are amplified at scale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5. Proposed FAIR statement — 10 best-practice recommendations for equitable AI in healthcare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0" y="12344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Bias Taxonomy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627632"/>
            <a:ext cx="1920240" cy="2743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627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Data Bias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901952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28032" y="1947672"/>
            <a:ext cx="17739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Minority bias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Missing data bias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Informativeness bias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Training–serving skew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12280" y="1627632"/>
            <a:ext cx="1920240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1627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Algorithmic Bias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1901952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85432" y="1947672"/>
            <a:ext cx="17739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Label bias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Cohort bias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3227832"/>
            <a:ext cx="1920240" cy="274320"/>
          </a:xfrm>
          <a:prstGeom prst="rect">
            <a:avLst/>
          </a:prstGeom>
          <a:solidFill>
            <a:srgbClr val="7B8B6F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227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Clinician Interaction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3502152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28032" y="3547872"/>
            <a:ext cx="17739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Automation bias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Feedback loop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Rejection bias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12280" y="3227832"/>
            <a:ext cx="1920240" cy="2743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3227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Patient Interaction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12280" y="3502152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85432" y="3547872"/>
            <a:ext cx="17739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Privilege bias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Informed mistrust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Agency bias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THE FAIR STATEMENT — STRENGTHS, WEAKNESSES &amp; LESSONS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10-Point FAIR Statement (Ueda et al., 2024)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977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91440" cy="5303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17043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Diverse &amp; representative training data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746504"/>
            <a:ext cx="3977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46504"/>
            <a:ext cx="91440" cy="5303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77393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Independent algorithm audits &amp; validation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350008"/>
            <a:ext cx="3977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50008"/>
            <a:ext cx="91440" cy="5303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3774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Education on AI bias for clinicians &amp; patients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953512"/>
            <a:ext cx="3977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53512"/>
            <a:ext cx="91440" cy="5303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98094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4. Strengthen data privacy &amp; security (HIPAA/GDPR)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557016"/>
            <a:ext cx="3977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557016"/>
            <a:ext cx="91440" cy="5303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58444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5. Establish liability &amp; accountability frameworks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34840" y="1143000"/>
            <a:ext cx="4389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34840" y="1143000"/>
            <a:ext cx="91440" cy="5303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90288" y="1170432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6. Enhance AI transparency &amp; explainability (XAI)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34840" y="1746504"/>
            <a:ext cx="4389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34840" y="1746504"/>
            <a:ext cx="91440" cy="5303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5" name="Text 23"/>
          <p:cNvSpPr/>
          <p:nvPr/>
        </p:nvSpPr>
        <p:spPr>
          <a:xfrm>
            <a:off x="4590288" y="1773936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7. Collaboration: physicians, researchers, developers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434840" y="2350008"/>
            <a:ext cx="4389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34840" y="2350008"/>
            <a:ext cx="91440" cy="5303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8" name="Text 26"/>
          <p:cNvSpPr/>
          <p:nvPr/>
        </p:nvSpPr>
        <p:spPr>
          <a:xfrm>
            <a:off x="4590288" y="2377440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8. Policymaker &amp; regulatory authority engagement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34840" y="2953512"/>
            <a:ext cx="4389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34840" y="2953512"/>
            <a:ext cx="91440" cy="5303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1" name="Text 29"/>
          <p:cNvSpPr/>
          <p:nvPr/>
        </p:nvSpPr>
        <p:spPr>
          <a:xfrm>
            <a:off x="4590288" y="2980944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9. Patient &amp; advocacy group participation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434840" y="3557016"/>
            <a:ext cx="4389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34840" y="3557016"/>
            <a:ext cx="91440" cy="5303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4" name="Text 32"/>
          <p:cNvSpPr/>
          <p:nvPr/>
        </p:nvSpPr>
        <p:spPr>
          <a:xfrm>
            <a:off x="4590288" y="3584448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10. Professional association support &amp; standards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206240"/>
            <a:ext cx="2788920" cy="256032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42062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STRENGTHS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4462272"/>
            <a:ext cx="2788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93192" y="448056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Holistic 10-point framework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Multi-stakeholder lens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Radiology-specific context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46120" y="4206240"/>
            <a:ext cx="2788920" cy="25603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40" name="Text 38"/>
          <p:cNvSpPr/>
          <p:nvPr/>
        </p:nvSpPr>
        <p:spPr>
          <a:xfrm>
            <a:off x="3246120" y="42062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WEAKNESSES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46120" y="4462272"/>
            <a:ext cx="2788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319272" y="448056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Primarily descriptive — lacks empirical validation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Single clinical domain (radiology)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Implementation cost not addressed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72200" y="4206240"/>
            <a:ext cx="2788920" cy="256032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4" name="Text 42"/>
          <p:cNvSpPr/>
          <p:nvPr/>
        </p:nvSpPr>
        <p:spPr>
          <a:xfrm>
            <a:off x="6172200" y="42062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LESSONS LEARNT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72200" y="4462272"/>
            <a:ext cx="2788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245352" y="448056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Fairness demands systemic, not technical-only, solutions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Patient agency is undervalued in AI design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Governance gaps persist across specialties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FAIRNESS IN RECIDIVISM PREDICTION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Bhagya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47472"/>
          </a:xfrm>
          <a:prstGeom prst="rect">
            <a:avLst/>
          </a:prstGeom>
          <a:solidFill>
            <a:srgbClr val="F0E8D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498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Farayola et al. (2025) — A fairness-focused approach to recidivism prediction: implications for accuracy, trust, and equity. AI &amp; Society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8503920" cy="502920"/>
          </a:xfrm>
          <a:prstGeom prst="rect">
            <a:avLst/>
          </a:prstGeom>
          <a:solidFill>
            <a:srgbClr val="FDE8D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0700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Context: COMPAS (Correctional Offender Management Profiling for Alternative Sanctions) systematically overestimates recidivism risk for Black individuals while underestimating it for White individuals — Angwin et al. (2016) — raising profound justice and accountability concerns.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2788920" cy="3200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8288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PRE-PROCESSING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148840"/>
            <a:ext cx="2788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21284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Reweighing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Disparate Impact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Remover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09067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Correct biases in training data before model development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828800"/>
            <a:ext cx="2788920" cy="3200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8288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IN-PROCESSING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2148840"/>
            <a:ext cx="2788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221284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6F51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Adversarial Learning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76F51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Exponentiated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76F51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Gradient Reduction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37560" y="309067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Modify training algorithms to counteract bias during model development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1828800"/>
            <a:ext cx="2788920" cy="3200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18288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POST-PROCESSING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2148840"/>
            <a:ext cx="2788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63640" y="221284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4653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Reject Option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64653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Classification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64653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Equalized Odds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64653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Optimization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63640" y="309067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Adjust model outputs to promote fairer outcomes after training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298448" y="2670048"/>
            <a:ext cx="365760" cy="7315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5" name="Text 23"/>
          <p:cNvSpPr/>
          <p:nvPr/>
        </p:nvSpPr>
        <p:spPr>
          <a:xfrm>
            <a:off x="1591056" y="26060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C46A"/>
                </a:solidFill>
              </a:rPr>
              <a:t>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24528" y="2670048"/>
            <a:ext cx="365760" cy="7315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7" name="Text 25"/>
          <p:cNvSpPr/>
          <p:nvPr/>
        </p:nvSpPr>
        <p:spPr>
          <a:xfrm>
            <a:off x="4517136" y="26060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C46A"/>
                </a:solidFill>
              </a:rPr>
              <a:t>▶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404164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Study introduces 4 integrated model types — PI (pre+in), PP (pre+post), IP (in+post), PIP (all three phases) — evaluated via Pareto optimisation on COMPAS &amp; RisCanvi datasets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553712"/>
            <a:ext cx="2011680" cy="5029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5537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SPD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468880" y="4553712"/>
            <a:ext cx="2011680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2" name="Text 30"/>
          <p:cNvSpPr/>
          <p:nvPr/>
        </p:nvSpPr>
        <p:spPr>
          <a:xfrm>
            <a:off x="2468880" y="45537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DI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17720" y="4553712"/>
            <a:ext cx="2011680" cy="5029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4" name="Text 32"/>
          <p:cNvSpPr/>
          <p:nvPr/>
        </p:nvSpPr>
        <p:spPr>
          <a:xfrm>
            <a:off x="4617720" y="45537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EOD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766560" y="4553712"/>
            <a:ext cx="2011680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0" y="45537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PED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RECIDIVISM — FINDINGS &amp; CRITICAL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115568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Fairness-accuracy trade-off is real: improving fairness metrics often reduces predictive accuracy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Single-phase interventions are insufficient — multi-stage (PIP) approach consistently outperforms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Some mitigation strategies backfire: certain methods worsened SPD/DI/EOD rather than improving them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4. Best performer: DIR + Adversarial Learning + Equalized Odds (DIR+AL+EO) combination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5. Pareto optimisation identifies non-dominated solutions balancing all fairness metrics simultaneously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6. Generalisability validated — results hold across both COMPAS (US) and RisCanvi (Spanish) datasets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23560" y="749808"/>
            <a:ext cx="3200400" cy="27432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7" name="Text 5"/>
          <p:cNvSpPr/>
          <p:nvPr/>
        </p:nvSpPr>
        <p:spPr>
          <a:xfrm>
            <a:off x="5623560" y="749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STRENGTHS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23560" y="1024128"/>
            <a:ext cx="3200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96712" y="1069848"/>
            <a:ext cx="305409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First study to test ALL three phases on two datasets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Multi-objective Pareto optimisation is novel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Actionable configurations for practitioners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23560" y="2194560"/>
            <a:ext cx="3200400" cy="2743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WEAKNESSES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23560" y="2468880"/>
            <a:ext cx="3200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96712" y="2514600"/>
            <a:ext cx="305409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Only two datasets — generalisability still limited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Doesn't explain WHY some combos worsen bias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Complex pipeline may limit practical deployment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23560" y="3639312"/>
            <a:ext cx="3200400" cy="2743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15" name="Text 13"/>
          <p:cNvSpPr/>
          <p:nvPr/>
        </p:nvSpPr>
        <p:spPr>
          <a:xfrm>
            <a:off x="5623560" y="3639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LESSONS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23560" y="3913632"/>
            <a:ext cx="3200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96712" y="3959352"/>
            <a:ext cx="305409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single fairness technique is universal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Bias mitigation needs context-specific tailoring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Trust in AI justice tools requires transparency, not just metrics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4114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Key insight: Fairness in criminal justice AI is not only a technical challenge but a societal and ethical imperative.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B5C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FAIRNESS &amp; BIAS IN ALGORITHMIC HIRING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Prasad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47472"/>
          </a:xfrm>
          <a:prstGeom prst="rect">
            <a:avLst/>
          </a:prstGeom>
          <a:solidFill>
            <a:srgbClr val="F0E8D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498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Fabris et al. (2025) — Fairness and Bias in Algorithmic Hiring: A Multidisciplinary Survey. ACM Trans. Intell. Syst. Technol., 16(1), Art.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8503920" cy="438912"/>
          </a:xfrm>
          <a:prstGeom prst="rect">
            <a:avLst/>
          </a:prstGeom>
          <a:solidFill>
            <a:srgbClr val="FDE8D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0700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Context: The average job posting yields 100+ candidates. Over 250 AI hiring tools exist. COVID-19 pandemic accelerated adoption — making bias risks both more prevalent and harder to detect.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7556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C3E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AI Hiring Pipeline — Bias Entry 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084832"/>
            <a:ext cx="1554480" cy="5486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0848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Job Description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56232" y="2176272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C46A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039112" y="2084832"/>
            <a:ext cx="1554480" cy="5486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2039112" y="20848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Resume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Parsing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75304" y="2176272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C46A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58184" y="2084832"/>
            <a:ext cx="1554480" cy="5486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3758184" y="20848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Candidate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Screening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94376" y="2176272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C46A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77256" y="2084832"/>
            <a:ext cx="1554480" cy="5486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77256" y="20848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Video Interview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13448" y="2176272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C46A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96328" y="2084832"/>
            <a:ext cx="1554480" cy="5486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3" name="Text 21"/>
          <p:cNvSpPr/>
          <p:nvPr/>
        </p:nvSpPr>
        <p:spPr>
          <a:xfrm>
            <a:off x="7196328" y="20848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Ranking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281635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C3E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Bias Conducive Factors (BCFs)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154680"/>
            <a:ext cx="2011680" cy="274320"/>
          </a:xfrm>
          <a:prstGeom prst="rect">
            <a:avLst/>
          </a:prstGeom>
          <a:solidFill>
            <a:srgbClr val="7B5C3E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Data BCFs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42900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93192" y="3474720"/>
            <a:ext cx="1874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Historical hiring data encodes past discrimination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Under-representation of women, minorities in training sets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Proxy variables (e.g., zip code, university name)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96312" y="3154680"/>
            <a:ext cx="2011680" cy="274320"/>
          </a:xfrm>
          <a:prstGeom prst="rect">
            <a:avLst/>
          </a:prstGeom>
          <a:solidFill>
            <a:srgbClr val="7B5C3E"/>
          </a:solidFill>
          <a:ln/>
        </p:spPr>
      </p:sp>
      <p:sp>
        <p:nvSpPr>
          <p:cNvPr id="30" name="Text 28"/>
          <p:cNvSpPr/>
          <p:nvPr/>
        </p:nvSpPr>
        <p:spPr>
          <a:xfrm>
            <a:off x="2496312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Model BCFs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96312" y="342900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569464" y="3474720"/>
            <a:ext cx="1874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Optimising for 'cultural fit' proxies existing bias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NLP models trained on biased corpora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Video analysis penalises non-standard accents/expressions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72584" y="3154680"/>
            <a:ext cx="2011680" cy="274320"/>
          </a:xfrm>
          <a:prstGeom prst="rect">
            <a:avLst/>
          </a:prstGeom>
          <a:solidFill>
            <a:srgbClr val="7B5C3E"/>
          </a:solidFill>
          <a:ln/>
        </p:spPr>
      </p:sp>
      <p:sp>
        <p:nvSpPr>
          <p:cNvPr id="34" name="Text 32"/>
          <p:cNvSpPr/>
          <p:nvPr/>
        </p:nvSpPr>
        <p:spPr>
          <a:xfrm>
            <a:off x="4672584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Deployment BCFs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72584" y="342900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45736" y="3474720"/>
            <a:ext cx="1874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Lack of auditing post-deployment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User-interface design nudges biased decisions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Feedback loops from biased historical hires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48856" y="3154680"/>
            <a:ext cx="2011680" cy="274320"/>
          </a:xfrm>
          <a:prstGeom prst="rect">
            <a:avLst/>
          </a:prstGeom>
          <a:solidFill>
            <a:srgbClr val="7B5C3E"/>
          </a:solidFill>
          <a:ln/>
        </p:spPr>
      </p:sp>
      <p:sp>
        <p:nvSpPr>
          <p:cNvPr id="38" name="Text 36"/>
          <p:cNvSpPr/>
          <p:nvPr/>
        </p:nvSpPr>
        <p:spPr>
          <a:xfrm>
            <a:off x="6848856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Legal BCFs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48856" y="342900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922008" y="3474720"/>
            <a:ext cx="1874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EU AI Act classifies hiring AI as high-risk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Disparate impact doctrine under US/EU law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Audit obligations vary widely across jurisdictions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B5C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ALGORITHMIC HIRING — CRITICAL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C3E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Key Contributions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5120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Multidisciplinary survey integrating CS, law &amp; philosophy — rare in the field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Bridges techno-optimism vs. pessimism with balanced, evidence-based analysis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Identifies 250+ AI HR tools on market with largely unregulated deployment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4. Fairness measures (group, individual, counterfactual) mapped to each hiring stage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5. Mitigation strategies: re-sampling, adversarial debiasing, constrained optimisation, audit trails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6. EU AI Act &amp; GDPR establish high-risk classification — legal accountability gap remains wide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23560" y="749808"/>
            <a:ext cx="3200400" cy="27432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7" name="Text 5"/>
          <p:cNvSpPr/>
          <p:nvPr/>
        </p:nvSpPr>
        <p:spPr>
          <a:xfrm>
            <a:off x="5623560" y="749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STRENGTHS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23560" y="1024128"/>
            <a:ext cx="3200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96712" y="1069848"/>
            <a:ext cx="305409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Breadth: covers all pipeline stages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Legal &amp; ethical lens beyond CS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Practitioner-facing recommendations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23560" y="2194560"/>
            <a:ext cx="3200400" cy="2743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WEAKNESSES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23560" y="2468880"/>
            <a:ext cx="3200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96712" y="2514600"/>
            <a:ext cx="305409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Doesn't empirically test the tools surveyed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Limited coverage of Global South contexts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Rapidly changing landscape may outdate findings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23560" y="3639312"/>
            <a:ext cx="3200400" cy="2743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15" name="Text 13"/>
          <p:cNvSpPr/>
          <p:nvPr/>
        </p:nvSpPr>
        <p:spPr>
          <a:xfrm>
            <a:off x="5623560" y="3639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LESSONS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23560" y="3913632"/>
            <a:ext cx="3200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96712" y="3959352"/>
            <a:ext cx="305409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Hiring AI amplifies structural inequality when unchecked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Multi-disciplinary governance is non-negotiable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Worker voice must be included in AI hiring design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39776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5C3E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"Whether algorithmic hiring can be less biased than human alternatives remains unanswered — but unregulated deployment is the worst of both worlds."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RACIAL BIAS IN FACIAL RECOGNITION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Rama Devi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47472"/>
          </a:xfrm>
          <a:prstGeom prst="rect">
            <a:avLst/>
          </a:prstGeom>
          <a:solidFill>
            <a:srgbClr val="F0E8D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498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Surveying Racial Bias in Facial Recognition: Balancing Datasets and Algorithmic Enhancements (2024)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21615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Root Causes of Racial Bias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4206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Dataset imbalance: majority datasets over-represent lighter-skinned individuals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Training on non-racially-aware datasets bakes in demographic disparities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Model architecture extracts features optimised for majority group characteristics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4. Error rate disparities: FRR &amp; FAR significantly higher for darker-skinned subjects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5. Real-world impact: wrongful arrests in policing, access control failures, surveillance inequity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09160" y="12161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Solutions Explored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581912"/>
            <a:ext cx="4114800" cy="292608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5819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Dataset Approaches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874520"/>
            <a:ext cx="41148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82312" y="1920240"/>
            <a:ext cx="39684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Racially balanced dataset creation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Synthetic data augmentation for underrepresented groups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Racial annotation &amp; stratified evaluation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3273552"/>
            <a:ext cx="4114800" cy="29260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32735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Algorithmic Enhancements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3566160"/>
            <a:ext cx="41148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82312" y="3611880"/>
            <a:ext cx="39684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Domain adaptation &amp; transfer learning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Bias-aware loss functions during training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Ensemble methods across demographic subgroups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9C4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Studies show facial recognition error rates can be 10–100× higher for dark-skinned women compared to light-skinned men (Buolamwini &amp; Gebru, 2018 — Gender Shades)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FACIAL RECOGNITION — CRITICAL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5120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Racially-aware datasets significantly improve equity but alone are insufficient without model-level intervention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Combining dataset balancing + algorithmic enhancement yields best equity outcomes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No current standard for 'racial fairness' in biometric system certification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4. Commercial systems deployed in policing remain largely unevaluated for racial equity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5. Data sovereignty and consent for racially annotated datasets remain unresolved ethical challenges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6. Intersectionality (race × gender × age) compounds bias — rarely studied together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23560" y="749808"/>
            <a:ext cx="3200400" cy="27432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7" name="Text 5"/>
          <p:cNvSpPr/>
          <p:nvPr/>
        </p:nvSpPr>
        <p:spPr>
          <a:xfrm>
            <a:off x="5623560" y="749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STRENGTHS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23560" y="1024128"/>
            <a:ext cx="3200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96712" y="1069848"/>
            <a:ext cx="305409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Systematic dataset categorisation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Tests both dataset &amp; algorithm interventions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Concrete metrics (FRR, FAR) across races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23560" y="2194560"/>
            <a:ext cx="3200400" cy="2743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WEAKNESSES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23560" y="2468880"/>
            <a:ext cx="3200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96712" y="2514600"/>
            <a:ext cx="305409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Limited to recognition task — ignores emotion/age detection bias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Lacks longitudinal or real-world deployment analysis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Racial annotation raises its own ethical concerns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23560" y="3639312"/>
            <a:ext cx="3200400" cy="2743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15" name="Text 13"/>
          <p:cNvSpPr/>
          <p:nvPr/>
        </p:nvSpPr>
        <p:spPr>
          <a:xfrm>
            <a:off x="5623560" y="3639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LESSONS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23560" y="3913632"/>
            <a:ext cx="3200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96712" y="3959352"/>
            <a:ext cx="305409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Bias is baked in at the data collection stage — not just the model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Biometric equity requires both technical and policy interventions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Moratorium on high-risk FR in policing may be warranted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39776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64653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"A face is not neutral data — it carries demographic identity. Treating it as such is itself an act of bias."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CROSS-DOMAIN SYNTHESIS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C46A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What unites all four domains?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146304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618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4653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Domain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01368" y="1261872"/>
            <a:ext cx="178308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1801368" y="12618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4653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Root Bias Source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02736" y="1261872"/>
            <a:ext cx="164592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0" name="Text 8"/>
          <p:cNvSpPr/>
          <p:nvPr/>
        </p:nvSpPr>
        <p:spPr>
          <a:xfrm>
            <a:off x="3602736" y="1261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4653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Primary Harm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66944" y="1261872"/>
            <a:ext cx="173736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5266944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4653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Mitigation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22592" y="1261872"/>
            <a:ext cx="164592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7022592" y="1261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4653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Key Gap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1645920"/>
            <a:ext cx="1463040" cy="731520"/>
          </a:xfrm>
          <a:prstGeom prst="rect">
            <a:avLst/>
          </a:prstGeom>
          <a:solidFill>
            <a:srgbClr val="1C3340"/>
          </a:solidFill>
          <a:ln w="6350">
            <a:solidFill>
              <a:srgbClr val="3A5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64208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Healthcare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(Aditya)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01368" y="1645920"/>
            <a:ext cx="1783080" cy="731520"/>
          </a:xfrm>
          <a:prstGeom prst="rect">
            <a:avLst/>
          </a:prstGeom>
          <a:solidFill>
            <a:srgbClr val="1C3340"/>
          </a:solidFill>
          <a:ln w="6350">
            <a:solidFill>
              <a:srgbClr val="3A5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47088" y="1664208"/>
            <a:ext cx="1691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Minority &amp; historical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data bias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02736" y="1645920"/>
            <a:ext cx="1645920" cy="731520"/>
          </a:xfrm>
          <a:prstGeom prst="rect">
            <a:avLst/>
          </a:prstGeom>
          <a:solidFill>
            <a:srgbClr val="1C3340"/>
          </a:solidFill>
          <a:ln w="6350">
            <a:solidFill>
              <a:srgbClr val="3A5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48456" y="1664208"/>
            <a:ext cx="1554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Misdiagnosis 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unequal treatment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266944" y="1645920"/>
            <a:ext cx="1737360" cy="731520"/>
          </a:xfrm>
          <a:prstGeom prst="rect">
            <a:avLst/>
          </a:prstGeom>
          <a:solidFill>
            <a:srgbClr val="1C3340"/>
          </a:solidFill>
          <a:ln w="6350">
            <a:solidFill>
              <a:srgbClr val="3A50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12664" y="1664208"/>
            <a:ext cx="1645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FAIR statement;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diverse data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022592" y="1645920"/>
            <a:ext cx="1645920" cy="731520"/>
          </a:xfrm>
          <a:prstGeom prst="rect">
            <a:avLst/>
          </a:prstGeom>
          <a:solidFill>
            <a:srgbClr val="1C3340"/>
          </a:solidFill>
          <a:ln w="6350">
            <a:solidFill>
              <a:srgbClr val="3A5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68312" y="1664208"/>
            <a:ext cx="1554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empirical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validation of FAIR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423160"/>
            <a:ext cx="1463040" cy="731520"/>
          </a:xfrm>
          <a:prstGeom prst="rect">
            <a:avLst/>
          </a:prstGeom>
          <a:solidFill>
            <a:srgbClr val="172C38"/>
          </a:solidFill>
          <a:ln w="6350">
            <a:solidFill>
              <a:srgbClr val="3A5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441448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Criminal Justice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(Bhagya)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01368" y="2423160"/>
            <a:ext cx="1783080" cy="731520"/>
          </a:xfrm>
          <a:prstGeom prst="rect">
            <a:avLst/>
          </a:prstGeom>
          <a:solidFill>
            <a:srgbClr val="172C38"/>
          </a:solidFill>
          <a:ln w="6350">
            <a:solidFill>
              <a:srgbClr val="3A5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47088" y="2441448"/>
            <a:ext cx="1691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Historical criminal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justice inequality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02736" y="2423160"/>
            <a:ext cx="1645920" cy="731520"/>
          </a:xfrm>
          <a:prstGeom prst="rect">
            <a:avLst/>
          </a:prstGeom>
          <a:solidFill>
            <a:srgbClr val="172C38"/>
          </a:solidFill>
          <a:ln w="6350">
            <a:solidFill>
              <a:srgbClr val="3A5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48456" y="2441448"/>
            <a:ext cx="1554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Wrongful detention;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stigmatisation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266944" y="2423160"/>
            <a:ext cx="1737360" cy="731520"/>
          </a:xfrm>
          <a:prstGeom prst="rect">
            <a:avLst/>
          </a:prstGeom>
          <a:solidFill>
            <a:srgbClr val="172C38"/>
          </a:solidFill>
          <a:ln w="6350">
            <a:solidFill>
              <a:srgbClr val="3A50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12664" y="2441448"/>
            <a:ext cx="1645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Multi-stage pipeline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PIP approach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022592" y="2423160"/>
            <a:ext cx="1645920" cy="731520"/>
          </a:xfrm>
          <a:prstGeom prst="rect">
            <a:avLst/>
          </a:prstGeom>
          <a:solidFill>
            <a:srgbClr val="172C38"/>
          </a:solidFill>
          <a:ln w="6350">
            <a:solidFill>
              <a:srgbClr val="3A50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68312" y="2441448"/>
            <a:ext cx="1554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Counterproductive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bias in some methods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3200400"/>
            <a:ext cx="1463040" cy="731520"/>
          </a:xfrm>
          <a:prstGeom prst="rect">
            <a:avLst/>
          </a:prstGeom>
          <a:solidFill>
            <a:srgbClr val="1C3340"/>
          </a:solidFill>
          <a:ln w="6350">
            <a:solidFill>
              <a:srgbClr val="3A5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218688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Hiring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(Prasad)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801368" y="3200400"/>
            <a:ext cx="1783080" cy="731520"/>
          </a:xfrm>
          <a:prstGeom prst="rect">
            <a:avLst/>
          </a:prstGeom>
          <a:solidFill>
            <a:srgbClr val="1C3340"/>
          </a:solidFill>
          <a:ln w="6350">
            <a:solidFill>
              <a:srgbClr val="3A50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47088" y="3218688"/>
            <a:ext cx="1691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Historical HR data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&amp; proxy variables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02736" y="3200400"/>
            <a:ext cx="1645920" cy="731520"/>
          </a:xfrm>
          <a:prstGeom prst="rect">
            <a:avLst/>
          </a:prstGeom>
          <a:solidFill>
            <a:srgbClr val="1C3340"/>
          </a:solidFill>
          <a:ln w="6350">
            <a:solidFill>
              <a:srgbClr val="3A50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48456" y="3218688"/>
            <a:ext cx="1554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Discriminatory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screening at scale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266944" y="3200400"/>
            <a:ext cx="1737360" cy="731520"/>
          </a:xfrm>
          <a:prstGeom prst="rect">
            <a:avLst/>
          </a:prstGeom>
          <a:solidFill>
            <a:srgbClr val="1C3340"/>
          </a:solidFill>
          <a:ln w="6350">
            <a:solidFill>
              <a:srgbClr val="3A50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12664" y="3218688"/>
            <a:ext cx="1645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Multi-disciplinary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audit + regulation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022592" y="3200400"/>
            <a:ext cx="1645920" cy="731520"/>
          </a:xfrm>
          <a:prstGeom prst="rect">
            <a:avLst/>
          </a:prstGeom>
          <a:solidFill>
            <a:srgbClr val="1C3340"/>
          </a:solidFill>
          <a:ln w="6350">
            <a:solidFill>
              <a:srgbClr val="3A50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68312" y="3218688"/>
            <a:ext cx="1554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real-world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empirical testing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3977640"/>
            <a:ext cx="1463040" cy="731520"/>
          </a:xfrm>
          <a:prstGeom prst="rect">
            <a:avLst/>
          </a:prstGeom>
          <a:solidFill>
            <a:srgbClr val="172C38"/>
          </a:solidFill>
          <a:ln w="6350">
            <a:solidFill>
              <a:srgbClr val="3A50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995928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Biometrics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(Rama Devi)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801368" y="3977640"/>
            <a:ext cx="1783080" cy="731520"/>
          </a:xfrm>
          <a:prstGeom prst="rect">
            <a:avLst/>
          </a:prstGeom>
          <a:solidFill>
            <a:srgbClr val="172C38"/>
          </a:solidFill>
          <a:ln w="6350">
            <a:solidFill>
              <a:srgbClr val="3A50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47088" y="3995928"/>
            <a:ext cx="1691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Dataset demographic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imbalance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02736" y="3977640"/>
            <a:ext cx="1645920" cy="731520"/>
          </a:xfrm>
          <a:prstGeom prst="rect">
            <a:avLst/>
          </a:prstGeom>
          <a:solidFill>
            <a:srgbClr val="172C38"/>
          </a:solidFill>
          <a:ln w="6350">
            <a:solidFill>
              <a:srgbClr val="3A50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48456" y="3995928"/>
            <a:ext cx="1554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False arrests;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access denial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266944" y="3977640"/>
            <a:ext cx="1737360" cy="731520"/>
          </a:xfrm>
          <a:prstGeom prst="rect">
            <a:avLst/>
          </a:prstGeom>
          <a:solidFill>
            <a:srgbClr val="172C38"/>
          </a:solidFill>
          <a:ln w="6350">
            <a:solidFill>
              <a:srgbClr val="3A50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12664" y="3995928"/>
            <a:ext cx="1645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Dataset + algorithm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combined approach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022592" y="3977640"/>
            <a:ext cx="1645920" cy="731520"/>
          </a:xfrm>
          <a:prstGeom prst="rect">
            <a:avLst/>
          </a:prstGeom>
          <a:solidFill>
            <a:srgbClr val="172C38"/>
          </a:solidFill>
          <a:ln w="6350">
            <a:solidFill>
              <a:srgbClr val="3A506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68312" y="3995928"/>
            <a:ext cx="1554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certification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standard exists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4645152"/>
            <a:ext cx="85953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Shared themes across all papers: Data quality → Algorithmic accountability → Multi-stakeholder governance → Transparency &amp; Explainability (XAI) → Legal frameworks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CONCLUSIONS &amp; IMPLICATIONS FOR RESPONSIBLE AI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411480" cy="71323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813816"/>
            <a:ext cx="7936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Fairness is multi-dimensional — no single metric or technique is sufficient. Group, individual, and counterfactual fairness must all be considered in high-stakes systems.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581912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81912"/>
            <a:ext cx="411480" cy="7132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581912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4672" y="1618488"/>
            <a:ext cx="7936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Data is not neutral — all four domains show bias originates primarily in historically discriminatory data collection and structural inequalities encoded at source.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386584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86584"/>
            <a:ext cx="411480" cy="713232"/>
          </a:xfrm>
          <a:prstGeom prst="rect">
            <a:avLst/>
          </a:prstGeom>
          <a:solidFill>
            <a:srgbClr val="7B5C3E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386584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4672" y="2423160"/>
            <a:ext cx="7936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Technical fixes alone are insufficient — governance, legal accountability, and multi-stakeholder collaboration are equally critical for equitable AI deployment.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191256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191256"/>
            <a:ext cx="411480" cy="713232"/>
          </a:xfrm>
          <a:prstGeom prst="rect">
            <a:avLst/>
          </a:prstGeom>
          <a:solidFill>
            <a:srgbClr val="7B8B6F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191256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04672" y="3227832"/>
            <a:ext cx="7936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fairness–accuracy trade-off is real but manageable — multi-stage mitigation (PIP models) and Pareto optimisation offer promising paths forward.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995928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CCBB"/>
            </a:solidFill>
            <a:prstDash val="solid"/>
          </a:ln>
          <a:effectLst>
            <a:outerShdw sx="100000" sy="100000" kx="0" ky="0" algn="bl" rotWithShape="0" blurRad="101600" dist="38100" dir="8100000">
              <a:srgbClr val="264653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995928"/>
            <a:ext cx="411480" cy="713232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995928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4672" y="4032504"/>
            <a:ext cx="7936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A4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High-risk AI requires high-risk governance — Healthcare, Criminal Justice, Hiring &amp; Biometrics all call for mandatory audits, explainability standards and regulatory oversight.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" y="48920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888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References: Ueda et al. (2024) Jpn J Radiol  ·  Farayola et al. (2025) AI &amp; Society  ·  Fabris et al. (2025) ACM TIST  ·  Surveying Racial Bias in FR (2024)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0"/>
            <a:ext cx="1005840" cy="51435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E76F51">
              <a:alpha val="25000"/>
            </a:srgbClr>
          </a:solidFill>
          <a:ln w="12700">
            <a:solidFill>
              <a:srgbClr val="E76F51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A261"/>
                </a:solidFill>
                <a:latin typeface="DejaVu Serif Bold" pitchFamily="34" charset="0"/>
                <a:ea typeface="DejaVu Serif Bold" pitchFamily="34" charset="-122"/>
                <a:cs typeface="DejaVu Serif Bold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542032"/>
            <a:ext cx="3200400" cy="3657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7004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BBA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Group  ·  MSc Data Science  ·  CMP-L015-0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BBA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Aditya  ·  Bhagya  ·  Prasad  ·  Rama Devi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B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University of Roehampton London  |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Ethics &amp; Bias – Literature Review</dc:title>
  <dc:subject>PptxGenJS Presentation</dc:subject>
  <dc:creator>Group – MSc Data Science CMP-L015-0</dc:creator>
  <cp:lastModifiedBy>Group – MSc Data Science CMP-L015-0</cp:lastModifiedBy>
  <cp:revision>1</cp:revision>
  <dcterms:created xsi:type="dcterms:W3CDTF">2026-04-17T14:52:05Z</dcterms:created>
  <dcterms:modified xsi:type="dcterms:W3CDTF">2026-04-17T14:52:05Z</dcterms:modified>
</cp:coreProperties>
</file>